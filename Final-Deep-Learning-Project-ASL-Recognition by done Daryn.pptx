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Bitter" charset="1" panose="02000000000000000000"/>
      <p:regular r:id="rId18"/>
    </p:embeddedFont>
    <p:embeddedFont>
      <p:font typeface="Open Sans" charset="1" panose="00000000000000000000"/>
      <p:regular r:id="rId19"/>
    </p:embeddedFont>
    <p:embeddedFont>
      <p:font typeface="Consolas" charset="1" panose="020B060902020403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ABCB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97" r="0" b="-69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319967" y="1462763"/>
            <a:ext cx="9445523" cy="180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Final Deep Learning Project — ASL Recognition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19967" y="3587267"/>
            <a:ext cx="9445523" cy="5671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American Sign Language recognition using a custom CNN, MobileNetV2 transfer learning, and a Streamlit deployment.</a:t>
            </a: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Student: Daryn</a:t>
            </a:r>
          </a:p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Course: 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ABCB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F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722064"/>
            <a:ext cx="80026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Project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4117924"/>
            <a:ext cx="16303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The system accepts a hand-gesture image and predicts the correct ASL class. This is a supervised computer vision image-classification problem implemented with deep learning models and exposed via an interactive Streamlit app.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6" y="5425088"/>
            <a:ext cx="5254971" cy="2115893"/>
            <a:chOff x="0" y="0"/>
            <a:chExt cx="7006628" cy="28211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6993890" cy="2808478"/>
            </a:xfrm>
            <a:custGeom>
              <a:avLst/>
              <a:gdLst/>
              <a:ahLst/>
              <a:cxnLst/>
              <a:rect r="r" b="b" t="t" l="l"/>
              <a:pathLst>
                <a:path h="2808478" w="6993890">
                  <a:moveTo>
                    <a:pt x="0" y="158750"/>
                  </a:moveTo>
                  <a:cubicBezTo>
                    <a:pt x="0" y="71120"/>
                    <a:pt x="71247" y="0"/>
                    <a:pt x="159258" y="0"/>
                  </a:cubicBezTo>
                  <a:lnTo>
                    <a:pt x="6834759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2649728"/>
                  </a:lnTo>
                  <a:cubicBezTo>
                    <a:pt x="6993890" y="2737485"/>
                    <a:pt x="6922643" y="2808478"/>
                    <a:pt x="6834632" y="2808478"/>
                  </a:cubicBezTo>
                  <a:lnTo>
                    <a:pt x="159258" y="2808478"/>
                  </a:lnTo>
                  <a:cubicBezTo>
                    <a:pt x="71374" y="2808478"/>
                    <a:pt x="0" y="2737358"/>
                    <a:pt x="0" y="2649728"/>
                  </a:cubicBezTo>
                  <a:close/>
                </a:path>
              </a:pathLst>
            </a:custGeom>
            <a:solidFill>
              <a:srgbClr val="FCE2C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06717" cy="2821178"/>
            </a:xfrm>
            <a:custGeom>
              <a:avLst/>
              <a:gdLst/>
              <a:ahLst/>
              <a:cxnLst/>
              <a:rect r="r" b="b" t="t" l="l"/>
              <a:pathLst>
                <a:path h="2821178" w="7006717">
                  <a:moveTo>
                    <a:pt x="0" y="165100"/>
                  </a:moveTo>
                  <a:cubicBezTo>
                    <a:pt x="0" y="73914"/>
                    <a:pt x="74168" y="0"/>
                    <a:pt x="165608" y="0"/>
                  </a:cubicBezTo>
                  <a:lnTo>
                    <a:pt x="6841109" y="0"/>
                  </a:lnTo>
                  <a:lnTo>
                    <a:pt x="6841109" y="6350"/>
                  </a:lnTo>
                  <a:lnTo>
                    <a:pt x="6841109" y="0"/>
                  </a:lnTo>
                  <a:cubicBezTo>
                    <a:pt x="6932549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2656078"/>
                  </a:lnTo>
                  <a:lnTo>
                    <a:pt x="7000367" y="2656078"/>
                  </a:lnTo>
                  <a:lnTo>
                    <a:pt x="7006717" y="2656078"/>
                  </a:lnTo>
                  <a:cubicBezTo>
                    <a:pt x="7006717" y="2747264"/>
                    <a:pt x="6932549" y="2821178"/>
                    <a:pt x="6841109" y="2821178"/>
                  </a:cubicBezTo>
                  <a:lnTo>
                    <a:pt x="6841109" y="2814828"/>
                  </a:lnTo>
                  <a:lnTo>
                    <a:pt x="6841109" y="2821178"/>
                  </a:lnTo>
                  <a:lnTo>
                    <a:pt x="165608" y="2821178"/>
                  </a:lnTo>
                  <a:lnTo>
                    <a:pt x="165608" y="2814828"/>
                  </a:lnTo>
                  <a:lnTo>
                    <a:pt x="165608" y="2821178"/>
                  </a:lnTo>
                  <a:cubicBezTo>
                    <a:pt x="74168" y="2821178"/>
                    <a:pt x="0" y="2747264"/>
                    <a:pt x="0" y="265607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656078"/>
                  </a:lnTo>
                  <a:lnTo>
                    <a:pt x="6350" y="2656078"/>
                  </a:lnTo>
                  <a:lnTo>
                    <a:pt x="12700" y="2656078"/>
                  </a:lnTo>
                  <a:cubicBezTo>
                    <a:pt x="12700" y="2740279"/>
                    <a:pt x="81153" y="2808478"/>
                    <a:pt x="165608" y="2808478"/>
                  </a:cubicBezTo>
                  <a:lnTo>
                    <a:pt x="6841109" y="2808478"/>
                  </a:lnTo>
                  <a:cubicBezTo>
                    <a:pt x="6925564" y="2808478"/>
                    <a:pt x="6994017" y="2740152"/>
                    <a:pt x="6994017" y="2656078"/>
                  </a:cubicBezTo>
                  <a:lnTo>
                    <a:pt x="6994017" y="165100"/>
                  </a:lnTo>
                  <a:cubicBezTo>
                    <a:pt x="6994017" y="80899"/>
                    <a:pt x="6925564" y="12700"/>
                    <a:pt x="6841109" y="12700"/>
                  </a:cubicBezTo>
                  <a:lnTo>
                    <a:pt x="165608" y="12700"/>
                  </a:lnTo>
                  <a:lnTo>
                    <a:pt x="165608" y="6350"/>
                  </a:lnTo>
                  <a:lnTo>
                    <a:pt x="165608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E2C8B5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85284" y="5713362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Scope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85284" y="6250181"/>
            <a:ext cx="465936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29 ASL classes (A–Z plus del, nothing, space)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16443" y="5425088"/>
            <a:ext cx="5254971" cy="2115893"/>
            <a:chOff x="0" y="0"/>
            <a:chExt cx="7006628" cy="28211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6993890" cy="2808478"/>
            </a:xfrm>
            <a:custGeom>
              <a:avLst/>
              <a:gdLst/>
              <a:ahLst/>
              <a:cxnLst/>
              <a:rect r="r" b="b" t="t" l="l"/>
              <a:pathLst>
                <a:path h="2808478" w="6993890">
                  <a:moveTo>
                    <a:pt x="0" y="158750"/>
                  </a:moveTo>
                  <a:cubicBezTo>
                    <a:pt x="0" y="71120"/>
                    <a:pt x="71247" y="0"/>
                    <a:pt x="159258" y="0"/>
                  </a:cubicBezTo>
                  <a:lnTo>
                    <a:pt x="6834759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2649728"/>
                  </a:lnTo>
                  <a:cubicBezTo>
                    <a:pt x="6993890" y="2737485"/>
                    <a:pt x="6922643" y="2808478"/>
                    <a:pt x="6834632" y="2808478"/>
                  </a:cubicBezTo>
                  <a:lnTo>
                    <a:pt x="159258" y="2808478"/>
                  </a:lnTo>
                  <a:cubicBezTo>
                    <a:pt x="71374" y="2808478"/>
                    <a:pt x="0" y="2737358"/>
                    <a:pt x="0" y="2649728"/>
                  </a:cubicBezTo>
                  <a:close/>
                </a:path>
              </a:pathLst>
            </a:custGeom>
            <a:solidFill>
              <a:srgbClr val="FCE2C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06717" cy="2821178"/>
            </a:xfrm>
            <a:custGeom>
              <a:avLst/>
              <a:gdLst/>
              <a:ahLst/>
              <a:cxnLst/>
              <a:rect r="r" b="b" t="t" l="l"/>
              <a:pathLst>
                <a:path h="2821178" w="7006717">
                  <a:moveTo>
                    <a:pt x="0" y="165100"/>
                  </a:moveTo>
                  <a:cubicBezTo>
                    <a:pt x="0" y="73914"/>
                    <a:pt x="74168" y="0"/>
                    <a:pt x="165608" y="0"/>
                  </a:cubicBezTo>
                  <a:lnTo>
                    <a:pt x="6841109" y="0"/>
                  </a:lnTo>
                  <a:lnTo>
                    <a:pt x="6841109" y="6350"/>
                  </a:lnTo>
                  <a:lnTo>
                    <a:pt x="6841109" y="0"/>
                  </a:lnTo>
                  <a:cubicBezTo>
                    <a:pt x="6932549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2656078"/>
                  </a:lnTo>
                  <a:lnTo>
                    <a:pt x="7000367" y="2656078"/>
                  </a:lnTo>
                  <a:lnTo>
                    <a:pt x="7006717" y="2656078"/>
                  </a:lnTo>
                  <a:cubicBezTo>
                    <a:pt x="7006717" y="2747264"/>
                    <a:pt x="6932549" y="2821178"/>
                    <a:pt x="6841109" y="2821178"/>
                  </a:cubicBezTo>
                  <a:lnTo>
                    <a:pt x="6841109" y="2814828"/>
                  </a:lnTo>
                  <a:lnTo>
                    <a:pt x="6841109" y="2821178"/>
                  </a:lnTo>
                  <a:lnTo>
                    <a:pt x="165608" y="2821178"/>
                  </a:lnTo>
                  <a:lnTo>
                    <a:pt x="165608" y="2814828"/>
                  </a:lnTo>
                  <a:lnTo>
                    <a:pt x="165608" y="2821178"/>
                  </a:lnTo>
                  <a:cubicBezTo>
                    <a:pt x="74168" y="2821178"/>
                    <a:pt x="0" y="2747264"/>
                    <a:pt x="0" y="265607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656078"/>
                  </a:lnTo>
                  <a:lnTo>
                    <a:pt x="6350" y="2656078"/>
                  </a:lnTo>
                  <a:lnTo>
                    <a:pt x="12700" y="2656078"/>
                  </a:lnTo>
                  <a:cubicBezTo>
                    <a:pt x="12700" y="2740279"/>
                    <a:pt x="81153" y="2808478"/>
                    <a:pt x="165608" y="2808478"/>
                  </a:cubicBezTo>
                  <a:lnTo>
                    <a:pt x="6841109" y="2808478"/>
                  </a:lnTo>
                  <a:cubicBezTo>
                    <a:pt x="6925564" y="2808478"/>
                    <a:pt x="6994017" y="2740152"/>
                    <a:pt x="6994017" y="2656078"/>
                  </a:cubicBezTo>
                  <a:lnTo>
                    <a:pt x="6994017" y="165100"/>
                  </a:lnTo>
                  <a:cubicBezTo>
                    <a:pt x="6994017" y="80899"/>
                    <a:pt x="6925564" y="12700"/>
                    <a:pt x="6841109" y="12700"/>
                  </a:cubicBezTo>
                  <a:lnTo>
                    <a:pt x="165608" y="12700"/>
                  </a:lnTo>
                  <a:lnTo>
                    <a:pt x="165608" y="6350"/>
                  </a:lnTo>
                  <a:lnTo>
                    <a:pt x="165608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E2C8B5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814242" y="5713362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Models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14242" y="6250181"/>
            <a:ext cx="465936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Custom CNN baseline and MobileNetV2 transfer model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45401" y="5425088"/>
            <a:ext cx="5254971" cy="2115893"/>
            <a:chOff x="0" y="0"/>
            <a:chExt cx="7006628" cy="28211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" y="6350"/>
              <a:ext cx="6993890" cy="2808478"/>
            </a:xfrm>
            <a:custGeom>
              <a:avLst/>
              <a:gdLst/>
              <a:ahLst/>
              <a:cxnLst/>
              <a:rect r="r" b="b" t="t" l="l"/>
              <a:pathLst>
                <a:path h="2808478" w="6993890">
                  <a:moveTo>
                    <a:pt x="0" y="158750"/>
                  </a:moveTo>
                  <a:cubicBezTo>
                    <a:pt x="0" y="71120"/>
                    <a:pt x="71247" y="0"/>
                    <a:pt x="159258" y="0"/>
                  </a:cubicBezTo>
                  <a:lnTo>
                    <a:pt x="6834759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2649728"/>
                  </a:lnTo>
                  <a:cubicBezTo>
                    <a:pt x="6993890" y="2737485"/>
                    <a:pt x="6922643" y="2808478"/>
                    <a:pt x="6834632" y="2808478"/>
                  </a:cubicBezTo>
                  <a:lnTo>
                    <a:pt x="159258" y="2808478"/>
                  </a:lnTo>
                  <a:cubicBezTo>
                    <a:pt x="71374" y="2808478"/>
                    <a:pt x="0" y="2737358"/>
                    <a:pt x="0" y="2649728"/>
                  </a:cubicBezTo>
                  <a:close/>
                </a:path>
              </a:pathLst>
            </a:custGeom>
            <a:solidFill>
              <a:srgbClr val="FCE2C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06717" cy="2821178"/>
            </a:xfrm>
            <a:custGeom>
              <a:avLst/>
              <a:gdLst/>
              <a:ahLst/>
              <a:cxnLst/>
              <a:rect r="r" b="b" t="t" l="l"/>
              <a:pathLst>
                <a:path h="2821178" w="7006717">
                  <a:moveTo>
                    <a:pt x="0" y="165100"/>
                  </a:moveTo>
                  <a:cubicBezTo>
                    <a:pt x="0" y="73914"/>
                    <a:pt x="74168" y="0"/>
                    <a:pt x="165608" y="0"/>
                  </a:cubicBezTo>
                  <a:lnTo>
                    <a:pt x="6841109" y="0"/>
                  </a:lnTo>
                  <a:lnTo>
                    <a:pt x="6841109" y="6350"/>
                  </a:lnTo>
                  <a:lnTo>
                    <a:pt x="6841109" y="0"/>
                  </a:lnTo>
                  <a:cubicBezTo>
                    <a:pt x="6932549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2656078"/>
                  </a:lnTo>
                  <a:lnTo>
                    <a:pt x="7000367" y="2656078"/>
                  </a:lnTo>
                  <a:lnTo>
                    <a:pt x="7006717" y="2656078"/>
                  </a:lnTo>
                  <a:cubicBezTo>
                    <a:pt x="7006717" y="2747264"/>
                    <a:pt x="6932549" y="2821178"/>
                    <a:pt x="6841109" y="2821178"/>
                  </a:cubicBezTo>
                  <a:lnTo>
                    <a:pt x="6841109" y="2814828"/>
                  </a:lnTo>
                  <a:lnTo>
                    <a:pt x="6841109" y="2821178"/>
                  </a:lnTo>
                  <a:lnTo>
                    <a:pt x="165608" y="2821178"/>
                  </a:lnTo>
                  <a:lnTo>
                    <a:pt x="165608" y="2814828"/>
                  </a:lnTo>
                  <a:lnTo>
                    <a:pt x="165608" y="2821178"/>
                  </a:lnTo>
                  <a:cubicBezTo>
                    <a:pt x="74168" y="2821178"/>
                    <a:pt x="0" y="2747264"/>
                    <a:pt x="0" y="265607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2656078"/>
                  </a:lnTo>
                  <a:lnTo>
                    <a:pt x="6350" y="2656078"/>
                  </a:lnTo>
                  <a:lnTo>
                    <a:pt x="12700" y="2656078"/>
                  </a:lnTo>
                  <a:cubicBezTo>
                    <a:pt x="12700" y="2740279"/>
                    <a:pt x="81153" y="2808478"/>
                    <a:pt x="165608" y="2808478"/>
                  </a:cubicBezTo>
                  <a:lnTo>
                    <a:pt x="6841109" y="2808478"/>
                  </a:lnTo>
                  <a:cubicBezTo>
                    <a:pt x="6925564" y="2808478"/>
                    <a:pt x="6994017" y="2740152"/>
                    <a:pt x="6994017" y="2656078"/>
                  </a:cubicBezTo>
                  <a:lnTo>
                    <a:pt x="6994017" y="165100"/>
                  </a:lnTo>
                  <a:cubicBezTo>
                    <a:pt x="6994017" y="80899"/>
                    <a:pt x="6925564" y="12700"/>
                    <a:pt x="6841109" y="12700"/>
                  </a:cubicBezTo>
                  <a:lnTo>
                    <a:pt x="165608" y="12700"/>
                  </a:lnTo>
                  <a:lnTo>
                    <a:pt x="165608" y="6350"/>
                  </a:lnTo>
                  <a:lnTo>
                    <a:pt x="165608" y="12700"/>
                  </a:lnTo>
                  <a:cubicBezTo>
                    <a:pt x="81153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E2C8B5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343209" y="5713362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Best Result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43209" y="6250181"/>
            <a:ext cx="465936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Top accuracy: 84.19% (Macro F1: 84.05%)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ABCB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843858"/>
            <a:ext cx="10035483" cy="5647877"/>
            <a:chOff x="0" y="0"/>
            <a:chExt cx="13380644" cy="753050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3380593" cy="7530465"/>
            </a:xfrm>
            <a:custGeom>
              <a:avLst/>
              <a:gdLst/>
              <a:ahLst/>
              <a:cxnLst/>
              <a:rect r="r" b="b" t="t" l="l"/>
              <a:pathLst>
                <a:path h="7530465" w="13380593">
                  <a:moveTo>
                    <a:pt x="0" y="0"/>
                  </a:moveTo>
                  <a:lnTo>
                    <a:pt x="13380593" y="0"/>
                  </a:lnTo>
                  <a:lnTo>
                    <a:pt x="13380593" y="7530465"/>
                  </a:lnTo>
                  <a:lnTo>
                    <a:pt x="0" y="75304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" t="0" r="-15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6744738"/>
            <a:ext cx="7327106" cy="727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Dataset &amp; Preprocessing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7706468"/>
            <a:ext cx="16303523" cy="691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Dataset sourced from Kaggle: ASL alphabet with 29 classes (A–Z, del, nothing, space). Images were resized to 128×128 and pixel values normalized to [0,1]. A held-out validation set was preserved and kept clean to avoid any data leakage.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8601666"/>
            <a:ext cx="16303523" cy="841324"/>
            <a:chOff x="0" y="0"/>
            <a:chExt cx="21738031" cy="11217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37955" cy="1121791"/>
            </a:xfrm>
            <a:custGeom>
              <a:avLst/>
              <a:gdLst/>
              <a:ahLst/>
              <a:cxnLst/>
              <a:rect r="r" b="b" t="t" l="l"/>
              <a:pathLst>
                <a:path h="1121791" w="21737955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1610955" y="0"/>
                  </a:lnTo>
                  <a:cubicBezTo>
                    <a:pt x="21681060" y="0"/>
                    <a:pt x="21737955" y="56896"/>
                    <a:pt x="21737955" y="127000"/>
                  </a:cubicBezTo>
                  <a:lnTo>
                    <a:pt x="21737955" y="994791"/>
                  </a:lnTo>
                  <a:cubicBezTo>
                    <a:pt x="21737955" y="1064895"/>
                    <a:pt x="21681060" y="1121791"/>
                    <a:pt x="21610955" y="1121791"/>
                  </a:cubicBezTo>
                  <a:lnTo>
                    <a:pt x="127000" y="1121791"/>
                  </a:lnTo>
                  <a:cubicBezTo>
                    <a:pt x="56896" y="1121791"/>
                    <a:pt x="0" y="1064895"/>
                    <a:pt x="0" y="994791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19048" y="8934298"/>
            <a:ext cx="283521" cy="226809"/>
            <a:chOff x="0" y="0"/>
            <a:chExt cx="378028" cy="30241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378079" cy="302387"/>
            </a:xfrm>
            <a:custGeom>
              <a:avLst/>
              <a:gdLst/>
              <a:ahLst/>
              <a:cxnLst/>
              <a:rect r="r" b="b" t="t" l="l"/>
              <a:pathLst>
                <a:path h="302387" w="378079">
                  <a:moveTo>
                    <a:pt x="0" y="0"/>
                  </a:moveTo>
                  <a:lnTo>
                    <a:pt x="378079" y="0"/>
                  </a:lnTo>
                  <a:lnTo>
                    <a:pt x="378079" y="302387"/>
                  </a:lnTo>
                  <a:lnTo>
                    <a:pt x="0" y="302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3" b="-12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729378" y="8801700"/>
            <a:ext cx="16253965" cy="36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Validation data was not augmented to ensure an unbiased estimate of generalization.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ABCB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F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340026"/>
            <a:ext cx="80026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Training Robustness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735886"/>
            <a:ext cx="16303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Data augmentation was applied to the training set to improve model robustness to real-world variability. Augmentations were realistic and constrained to preserve label integrity.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5314" y="5038277"/>
            <a:ext cx="2746924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Rotation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55314" y="5575097"/>
            <a:ext cx="2746924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Accounts for tilted hands and camera angle variance.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19673" y="5038277"/>
            <a:ext cx="2747067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Zoom / Scale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19673" y="5575097"/>
            <a:ext cx="2747067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Simulates distance changes and cropping.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84184" y="5038277"/>
            <a:ext cx="2747067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Width/Height Shift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84184" y="6018019"/>
            <a:ext cx="2747067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Translates hands within the frame to reduce overfitting to centered poses.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48695" y="5038277"/>
            <a:ext cx="2747067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Brightness Variation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548695" y="6018019"/>
            <a:ext cx="2747067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Models lighting differences across capture conditions.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ABCB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F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466680"/>
            <a:ext cx="11940035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Model 1 — Custom CNN (Baseline)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862540"/>
            <a:ext cx="16303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A compact convolutional neural network was implemented as the baseline. It serves both as a performance benchmark and a fast model for experimentation.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73188" y="5155406"/>
            <a:ext cx="5283546" cy="2655246"/>
            <a:chOff x="0" y="0"/>
            <a:chExt cx="7044728" cy="35403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6993890" cy="3489452"/>
            </a:xfrm>
            <a:custGeom>
              <a:avLst/>
              <a:gdLst/>
              <a:ahLst/>
              <a:cxnLst/>
              <a:rect r="r" b="b" t="t" l="l"/>
              <a:pathLst>
                <a:path h="3489452" w="6993890">
                  <a:moveTo>
                    <a:pt x="0" y="158750"/>
                  </a:moveTo>
                  <a:cubicBezTo>
                    <a:pt x="0" y="71120"/>
                    <a:pt x="71628" y="0"/>
                    <a:pt x="159893" y="0"/>
                  </a:cubicBezTo>
                  <a:lnTo>
                    <a:pt x="6833997" y="0"/>
                  </a:lnTo>
                  <a:cubicBezTo>
                    <a:pt x="6922262" y="0"/>
                    <a:pt x="6993890" y="71120"/>
                    <a:pt x="6993890" y="158750"/>
                  </a:cubicBezTo>
                  <a:lnTo>
                    <a:pt x="6993890" y="3330702"/>
                  </a:lnTo>
                  <a:cubicBezTo>
                    <a:pt x="6993890" y="3418332"/>
                    <a:pt x="6922262" y="3489452"/>
                    <a:pt x="6833997" y="3489452"/>
                  </a:cubicBezTo>
                  <a:lnTo>
                    <a:pt x="159893" y="3489452"/>
                  </a:lnTo>
                  <a:cubicBezTo>
                    <a:pt x="71628" y="3489452"/>
                    <a:pt x="0" y="3418332"/>
                    <a:pt x="0" y="3330702"/>
                  </a:cubicBezTo>
                  <a:close/>
                </a:path>
              </a:pathLst>
            </a:custGeom>
            <a:solidFill>
              <a:srgbClr val="FFF8F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44690" cy="3540252"/>
            </a:xfrm>
            <a:custGeom>
              <a:avLst/>
              <a:gdLst/>
              <a:ahLst/>
              <a:cxnLst/>
              <a:rect r="r" b="b" t="t" l="l"/>
              <a:pathLst>
                <a:path h="3540252" w="7044690">
                  <a:moveTo>
                    <a:pt x="0" y="184150"/>
                  </a:moveTo>
                  <a:cubicBezTo>
                    <a:pt x="0" y="82296"/>
                    <a:pt x="83185" y="0"/>
                    <a:pt x="185293" y="0"/>
                  </a:cubicBezTo>
                  <a:lnTo>
                    <a:pt x="6859397" y="0"/>
                  </a:lnTo>
                  <a:lnTo>
                    <a:pt x="6859397" y="25400"/>
                  </a:lnTo>
                  <a:lnTo>
                    <a:pt x="6859397" y="0"/>
                  </a:lnTo>
                  <a:cubicBezTo>
                    <a:pt x="6961632" y="0"/>
                    <a:pt x="7044690" y="82296"/>
                    <a:pt x="7044690" y="184150"/>
                  </a:cubicBezTo>
                  <a:lnTo>
                    <a:pt x="7019290" y="184150"/>
                  </a:lnTo>
                  <a:lnTo>
                    <a:pt x="7044690" y="184150"/>
                  </a:lnTo>
                  <a:lnTo>
                    <a:pt x="7044690" y="3356102"/>
                  </a:lnTo>
                  <a:lnTo>
                    <a:pt x="7019290" y="3356102"/>
                  </a:lnTo>
                  <a:lnTo>
                    <a:pt x="7044690" y="3356102"/>
                  </a:lnTo>
                  <a:cubicBezTo>
                    <a:pt x="7044690" y="3457956"/>
                    <a:pt x="6961505" y="3540252"/>
                    <a:pt x="6859397" y="3540252"/>
                  </a:cubicBezTo>
                  <a:lnTo>
                    <a:pt x="6859397" y="3514852"/>
                  </a:lnTo>
                  <a:lnTo>
                    <a:pt x="6859397" y="3540252"/>
                  </a:lnTo>
                  <a:lnTo>
                    <a:pt x="185293" y="3540252"/>
                  </a:lnTo>
                  <a:lnTo>
                    <a:pt x="185293" y="3514852"/>
                  </a:lnTo>
                  <a:lnTo>
                    <a:pt x="185293" y="3540252"/>
                  </a:lnTo>
                  <a:cubicBezTo>
                    <a:pt x="83185" y="3540379"/>
                    <a:pt x="0" y="3458083"/>
                    <a:pt x="0" y="3356102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3356102"/>
                  </a:lnTo>
                  <a:lnTo>
                    <a:pt x="25400" y="3356102"/>
                  </a:lnTo>
                  <a:lnTo>
                    <a:pt x="50800" y="3356102"/>
                  </a:lnTo>
                  <a:cubicBezTo>
                    <a:pt x="50800" y="3429635"/>
                    <a:pt x="110871" y="3489452"/>
                    <a:pt x="185293" y="3489452"/>
                  </a:cubicBezTo>
                  <a:lnTo>
                    <a:pt x="6859397" y="3489452"/>
                  </a:lnTo>
                  <a:cubicBezTo>
                    <a:pt x="6933819" y="3489452"/>
                    <a:pt x="6993890" y="3429508"/>
                    <a:pt x="6993890" y="3356102"/>
                  </a:cubicBezTo>
                  <a:lnTo>
                    <a:pt x="6993890" y="184150"/>
                  </a:lnTo>
                  <a:cubicBezTo>
                    <a:pt x="6993890" y="110617"/>
                    <a:pt x="6933819" y="50800"/>
                    <a:pt x="6859397" y="50800"/>
                  </a:cubicBezTo>
                  <a:lnTo>
                    <a:pt x="185293" y="50800"/>
                  </a:lnTo>
                  <a:lnTo>
                    <a:pt x="185293" y="25400"/>
                  </a:lnTo>
                  <a:lnTo>
                    <a:pt x="185293" y="50800"/>
                  </a:lnTo>
                  <a:cubicBezTo>
                    <a:pt x="110871" y="50800"/>
                    <a:pt x="50800" y="110744"/>
                    <a:pt x="50800" y="184150"/>
                  </a:cubicBezTo>
                  <a:close/>
                </a:path>
              </a:pathLst>
            </a:custGeom>
            <a:solidFill>
              <a:srgbClr val="E2C8B5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13850" y="5486552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Architecture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3850" y="6023372"/>
            <a:ext cx="460221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Conv2D → BatchNorm → ReLU → MaxPool blocks (stacked)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02156" y="5155406"/>
            <a:ext cx="5283546" cy="2655246"/>
            <a:chOff x="0" y="0"/>
            <a:chExt cx="7044728" cy="35403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5400" y="25400"/>
              <a:ext cx="6993890" cy="3489452"/>
            </a:xfrm>
            <a:custGeom>
              <a:avLst/>
              <a:gdLst/>
              <a:ahLst/>
              <a:cxnLst/>
              <a:rect r="r" b="b" t="t" l="l"/>
              <a:pathLst>
                <a:path h="3489452" w="6993890">
                  <a:moveTo>
                    <a:pt x="0" y="158750"/>
                  </a:moveTo>
                  <a:cubicBezTo>
                    <a:pt x="0" y="71120"/>
                    <a:pt x="71628" y="0"/>
                    <a:pt x="159893" y="0"/>
                  </a:cubicBezTo>
                  <a:lnTo>
                    <a:pt x="6833997" y="0"/>
                  </a:lnTo>
                  <a:cubicBezTo>
                    <a:pt x="6922262" y="0"/>
                    <a:pt x="6993890" y="71120"/>
                    <a:pt x="6993890" y="158750"/>
                  </a:cubicBezTo>
                  <a:lnTo>
                    <a:pt x="6993890" y="3330702"/>
                  </a:lnTo>
                  <a:cubicBezTo>
                    <a:pt x="6993890" y="3418332"/>
                    <a:pt x="6922262" y="3489452"/>
                    <a:pt x="6833997" y="3489452"/>
                  </a:cubicBezTo>
                  <a:lnTo>
                    <a:pt x="159893" y="3489452"/>
                  </a:lnTo>
                  <a:cubicBezTo>
                    <a:pt x="71628" y="3489452"/>
                    <a:pt x="0" y="3418332"/>
                    <a:pt x="0" y="3330702"/>
                  </a:cubicBezTo>
                  <a:close/>
                </a:path>
              </a:pathLst>
            </a:custGeom>
            <a:solidFill>
              <a:srgbClr val="FFF8F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44690" cy="3540252"/>
            </a:xfrm>
            <a:custGeom>
              <a:avLst/>
              <a:gdLst/>
              <a:ahLst/>
              <a:cxnLst/>
              <a:rect r="r" b="b" t="t" l="l"/>
              <a:pathLst>
                <a:path h="3540252" w="7044690">
                  <a:moveTo>
                    <a:pt x="0" y="184150"/>
                  </a:moveTo>
                  <a:cubicBezTo>
                    <a:pt x="0" y="82296"/>
                    <a:pt x="83185" y="0"/>
                    <a:pt x="185293" y="0"/>
                  </a:cubicBezTo>
                  <a:lnTo>
                    <a:pt x="6859397" y="0"/>
                  </a:lnTo>
                  <a:lnTo>
                    <a:pt x="6859397" y="25400"/>
                  </a:lnTo>
                  <a:lnTo>
                    <a:pt x="6859397" y="0"/>
                  </a:lnTo>
                  <a:cubicBezTo>
                    <a:pt x="6961632" y="0"/>
                    <a:pt x="7044690" y="82296"/>
                    <a:pt x="7044690" y="184150"/>
                  </a:cubicBezTo>
                  <a:lnTo>
                    <a:pt x="7019290" y="184150"/>
                  </a:lnTo>
                  <a:lnTo>
                    <a:pt x="7044690" y="184150"/>
                  </a:lnTo>
                  <a:lnTo>
                    <a:pt x="7044690" y="3356102"/>
                  </a:lnTo>
                  <a:lnTo>
                    <a:pt x="7019290" y="3356102"/>
                  </a:lnTo>
                  <a:lnTo>
                    <a:pt x="7044690" y="3356102"/>
                  </a:lnTo>
                  <a:cubicBezTo>
                    <a:pt x="7044690" y="3457956"/>
                    <a:pt x="6961505" y="3540252"/>
                    <a:pt x="6859397" y="3540252"/>
                  </a:cubicBezTo>
                  <a:lnTo>
                    <a:pt x="6859397" y="3514852"/>
                  </a:lnTo>
                  <a:lnTo>
                    <a:pt x="6859397" y="3540252"/>
                  </a:lnTo>
                  <a:lnTo>
                    <a:pt x="185293" y="3540252"/>
                  </a:lnTo>
                  <a:lnTo>
                    <a:pt x="185293" y="3514852"/>
                  </a:lnTo>
                  <a:lnTo>
                    <a:pt x="185293" y="3540252"/>
                  </a:lnTo>
                  <a:cubicBezTo>
                    <a:pt x="83185" y="3540379"/>
                    <a:pt x="0" y="3458083"/>
                    <a:pt x="0" y="3356102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3356102"/>
                  </a:lnTo>
                  <a:lnTo>
                    <a:pt x="25400" y="3356102"/>
                  </a:lnTo>
                  <a:lnTo>
                    <a:pt x="50800" y="3356102"/>
                  </a:lnTo>
                  <a:cubicBezTo>
                    <a:pt x="50800" y="3429635"/>
                    <a:pt x="110871" y="3489452"/>
                    <a:pt x="185293" y="3489452"/>
                  </a:cubicBezTo>
                  <a:lnTo>
                    <a:pt x="6859397" y="3489452"/>
                  </a:lnTo>
                  <a:cubicBezTo>
                    <a:pt x="6933819" y="3489452"/>
                    <a:pt x="6993890" y="3429508"/>
                    <a:pt x="6993890" y="3356102"/>
                  </a:cubicBezTo>
                  <a:lnTo>
                    <a:pt x="6993890" y="184150"/>
                  </a:lnTo>
                  <a:cubicBezTo>
                    <a:pt x="6993890" y="110617"/>
                    <a:pt x="6933819" y="50800"/>
                    <a:pt x="6859397" y="50800"/>
                  </a:cubicBezTo>
                  <a:lnTo>
                    <a:pt x="185293" y="50800"/>
                  </a:lnTo>
                  <a:lnTo>
                    <a:pt x="185293" y="25400"/>
                  </a:lnTo>
                  <a:lnTo>
                    <a:pt x="185293" y="50800"/>
                  </a:lnTo>
                  <a:cubicBezTo>
                    <a:pt x="110871" y="50800"/>
                    <a:pt x="50800" y="110744"/>
                    <a:pt x="50800" y="184150"/>
                  </a:cubicBezTo>
                  <a:close/>
                </a:path>
              </a:pathLst>
            </a:custGeom>
            <a:solidFill>
              <a:srgbClr val="E2C8B5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6842817" y="5486552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Regularization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42817" y="6023372"/>
            <a:ext cx="460221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Dropout layers and data augmentation to reduce overfitting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31113" y="5155406"/>
            <a:ext cx="5283546" cy="2655246"/>
            <a:chOff x="0" y="0"/>
            <a:chExt cx="7044728" cy="35403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5400" y="25400"/>
              <a:ext cx="6993890" cy="3489452"/>
            </a:xfrm>
            <a:custGeom>
              <a:avLst/>
              <a:gdLst/>
              <a:ahLst/>
              <a:cxnLst/>
              <a:rect r="r" b="b" t="t" l="l"/>
              <a:pathLst>
                <a:path h="3489452" w="6993890">
                  <a:moveTo>
                    <a:pt x="0" y="158750"/>
                  </a:moveTo>
                  <a:cubicBezTo>
                    <a:pt x="0" y="71120"/>
                    <a:pt x="71628" y="0"/>
                    <a:pt x="159893" y="0"/>
                  </a:cubicBezTo>
                  <a:lnTo>
                    <a:pt x="6833997" y="0"/>
                  </a:lnTo>
                  <a:cubicBezTo>
                    <a:pt x="6922262" y="0"/>
                    <a:pt x="6993890" y="71120"/>
                    <a:pt x="6993890" y="158750"/>
                  </a:cubicBezTo>
                  <a:lnTo>
                    <a:pt x="6993890" y="3330702"/>
                  </a:lnTo>
                  <a:cubicBezTo>
                    <a:pt x="6993890" y="3418332"/>
                    <a:pt x="6922262" y="3489452"/>
                    <a:pt x="6833997" y="3489452"/>
                  </a:cubicBezTo>
                  <a:lnTo>
                    <a:pt x="159893" y="3489452"/>
                  </a:lnTo>
                  <a:cubicBezTo>
                    <a:pt x="71628" y="3489452"/>
                    <a:pt x="0" y="3418332"/>
                    <a:pt x="0" y="3330702"/>
                  </a:cubicBezTo>
                  <a:close/>
                </a:path>
              </a:pathLst>
            </a:custGeom>
            <a:solidFill>
              <a:srgbClr val="FFF8F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44690" cy="3540252"/>
            </a:xfrm>
            <a:custGeom>
              <a:avLst/>
              <a:gdLst/>
              <a:ahLst/>
              <a:cxnLst/>
              <a:rect r="r" b="b" t="t" l="l"/>
              <a:pathLst>
                <a:path h="3540252" w="7044690">
                  <a:moveTo>
                    <a:pt x="0" y="184150"/>
                  </a:moveTo>
                  <a:cubicBezTo>
                    <a:pt x="0" y="82296"/>
                    <a:pt x="83185" y="0"/>
                    <a:pt x="185293" y="0"/>
                  </a:cubicBezTo>
                  <a:lnTo>
                    <a:pt x="6859397" y="0"/>
                  </a:lnTo>
                  <a:lnTo>
                    <a:pt x="6859397" y="25400"/>
                  </a:lnTo>
                  <a:lnTo>
                    <a:pt x="6859397" y="0"/>
                  </a:lnTo>
                  <a:cubicBezTo>
                    <a:pt x="6961632" y="0"/>
                    <a:pt x="7044690" y="82296"/>
                    <a:pt x="7044690" y="184150"/>
                  </a:cubicBezTo>
                  <a:lnTo>
                    <a:pt x="7019290" y="184150"/>
                  </a:lnTo>
                  <a:lnTo>
                    <a:pt x="7044690" y="184150"/>
                  </a:lnTo>
                  <a:lnTo>
                    <a:pt x="7044690" y="3356102"/>
                  </a:lnTo>
                  <a:lnTo>
                    <a:pt x="7019290" y="3356102"/>
                  </a:lnTo>
                  <a:lnTo>
                    <a:pt x="7044690" y="3356102"/>
                  </a:lnTo>
                  <a:cubicBezTo>
                    <a:pt x="7044690" y="3457956"/>
                    <a:pt x="6961505" y="3540252"/>
                    <a:pt x="6859397" y="3540252"/>
                  </a:cubicBezTo>
                  <a:lnTo>
                    <a:pt x="6859397" y="3514852"/>
                  </a:lnTo>
                  <a:lnTo>
                    <a:pt x="6859397" y="3540252"/>
                  </a:lnTo>
                  <a:lnTo>
                    <a:pt x="185293" y="3540252"/>
                  </a:lnTo>
                  <a:lnTo>
                    <a:pt x="185293" y="3514852"/>
                  </a:lnTo>
                  <a:lnTo>
                    <a:pt x="185293" y="3540252"/>
                  </a:lnTo>
                  <a:cubicBezTo>
                    <a:pt x="83185" y="3540379"/>
                    <a:pt x="0" y="3458083"/>
                    <a:pt x="0" y="3356102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3356102"/>
                  </a:lnTo>
                  <a:lnTo>
                    <a:pt x="25400" y="3356102"/>
                  </a:lnTo>
                  <a:lnTo>
                    <a:pt x="50800" y="3356102"/>
                  </a:lnTo>
                  <a:cubicBezTo>
                    <a:pt x="50800" y="3429635"/>
                    <a:pt x="110871" y="3489452"/>
                    <a:pt x="185293" y="3489452"/>
                  </a:cubicBezTo>
                  <a:lnTo>
                    <a:pt x="6859397" y="3489452"/>
                  </a:lnTo>
                  <a:cubicBezTo>
                    <a:pt x="6933819" y="3489452"/>
                    <a:pt x="6993890" y="3429508"/>
                    <a:pt x="6993890" y="3356102"/>
                  </a:cubicBezTo>
                  <a:lnTo>
                    <a:pt x="6993890" y="184150"/>
                  </a:lnTo>
                  <a:cubicBezTo>
                    <a:pt x="6993890" y="110617"/>
                    <a:pt x="6933819" y="50800"/>
                    <a:pt x="6859397" y="50800"/>
                  </a:cubicBezTo>
                  <a:lnTo>
                    <a:pt x="185293" y="50800"/>
                  </a:lnTo>
                  <a:lnTo>
                    <a:pt x="185293" y="25400"/>
                  </a:lnTo>
                  <a:lnTo>
                    <a:pt x="185293" y="50800"/>
                  </a:lnTo>
                  <a:cubicBezTo>
                    <a:pt x="110871" y="50800"/>
                    <a:pt x="50800" y="110744"/>
                    <a:pt x="50800" y="184150"/>
                  </a:cubicBezTo>
                  <a:close/>
                </a:path>
              </a:pathLst>
            </a:custGeom>
            <a:solidFill>
              <a:srgbClr val="E2C8B5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371784" y="5486552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Output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71784" y="6023372"/>
            <a:ext cx="460221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Fully connected head with Softmax over 29 classes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ABCB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F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365647"/>
            <a:ext cx="14813909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Model 2 — MobileNetV2 Transfer Learning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761507"/>
            <a:ext cx="16303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Transfer learning with MobileNetV2 (ImageNet pretrained) was used to improve representational power while keeping inference efficient for edge and mobile use-cases.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4752975"/>
            <a:ext cx="6106268" cy="3460109"/>
            <a:chOff x="0" y="0"/>
            <a:chExt cx="8141691" cy="461347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141716" cy="4613529"/>
            </a:xfrm>
            <a:custGeom>
              <a:avLst/>
              <a:gdLst/>
              <a:ahLst/>
              <a:cxnLst/>
              <a:rect r="r" b="b" t="t" l="l"/>
              <a:pathLst>
                <a:path h="4613529" w="8141716">
                  <a:moveTo>
                    <a:pt x="0" y="0"/>
                  </a:moveTo>
                  <a:lnTo>
                    <a:pt x="8141716" y="0"/>
                  </a:lnTo>
                  <a:lnTo>
                    <a:pt x="8141716" y="4613529"/>
                  </a:lnTo>
                  <a:lnTo>
                    <a:pt x="0" y="4613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" t="0" r="-30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799784" y="4242797"/>
            <a:ext cx="10419750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MobileNetV2 advantages: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99784" y="4951514"/>
            <a:ext cx="9505350" cy="164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Lightweight &amp; low-latency for deployment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Pretrained low-level features accelerate convergence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Custom classification head fine-tuned on ASL dataset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799784" y="6915302"/>
            <a:ext cx="9505350" cy="1658388"/>
            <a:chOff x="0" y="0"/>
            <a:chExt cx="12673800" cy="22111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73711" cy="2211070"/>
            </a:xfrm>
            <a:custGeom>
              <a:avLst/>
              <a:gdLst/>
              <a:ahLst/>
              <a:cxnLst/>
              <a:rect r="r" b="b" t="t" l="l"/>
              <a:pathLst>
                <a:path h="2211070" w="12673711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2514961" y="0"/>
                  </a:lnTo>
                  <a:cubicBezTo>
                    <a:pt x="12602718" y="0"/>
                    <a:pt x="12673711" y="71120"/>
                    <a:pt x="12673711" y="158750"/>
                  </a:cubicBezTo>
                  <a:lnTo>
                    <a:pt x="12673711" y="2052320"/>
                  </a:lnTo>
                  <a:cubicBezTo>
                    <a:pt x="12673711" y="2140077"/>
                    <a:pt x="12602591" y="2211070"/>
                    <a:pt x="12514961" y="2211070"/>
                  </a:cubicBezTo>
                  <a:lnTo>
                    <a:pt x="158750" y="2211070"/>
                  </a:lnTo>
                  <a:cubicBezTo>
                    <a:pt x="70993" y="2211070"/>
                    <a:pt x="0" y="2139950"/>
                    <a:pt x="0" y="2052320"/>
                  </a:cubicBezTo>
                  <a:close/>
                </a:path>
              </a:pathLst>
            </a:custGeom>
            <a:solidFill>
              <a:srgbClr val="FAD3B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083306" y="7354938"/>
            <a:ext cx="354359" cy="283521"/>
            <a:chOff x="0" y="0"/>
            <a:chExt cx="472478" cy="378028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71" r="-8" b="-655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721176" y="7183936"/>
            <a:ext cx="8300437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Both models were evaluated on the same validation set for fair comparison.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ABCB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F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050284"/>
            <a:ext cx="80026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Results &amp;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816419"/>
            <a:ext cx="5198269" cy="79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0"/>
              </a:lnSpc>
            </a:pPr>
            <a:r>
              <a:rPr lang="en-US" sz="730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84.19%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19275" y="3953913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Custom CNN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490742"/>
            <a:ext cx="5198269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Top validation accuracy achieved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44866" y="2816419"/>
            <a:ext cx="5198269" cy="79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0"/>
              </a:lnSpc>
            </a:pPr>
            <a:r>
              <a:rPr lang="en-US" sz="730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82.36%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71902" y="3953913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MobileNetV2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44866" y="4490742"/>
            <a:ext cx="519826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Close performance; better generalization on some classes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97493" y="2816419"/>
            <a:ext cx="5198269" cy="79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0"/>
              </a:lnSpc>
            </a:pPr>
            <a:r>
              <a:rPr lang="en-US" sz="730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84.05%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24530" y="3953913"/>
            <a:ext cx="35440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2B2E3C"/>
                </a:solidFill>
                <a:latin typeface="Bitter"/>
                <a:ea typeface="Bitter"/>
                <a:cs typeface="Bitter"/>
                <a:sym typeface="Bitter"/>
              </a:rPr>
              <a:t>Macro F1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97493" y="4490742"/>
            <a:ext cx="5198269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1"/>
              </a:lnSpc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Balanced metric across all classes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5899394"/>
            <a:ext cx="4922339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Class-level observations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6691313"/>
            <a:ext cx="16303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Best-recognized signs typically have distinctive finger configurations. Harder classes include signs with subtle differences (e.g., F vs S, L vs X) and non-manual cues like 'nothing' or 'space' which rely on context.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2238" y="8003229"/>
            <a:ext cx="16303523" cy="1204760"/>
            <a:chOff x="0" y="0"/>
            <a:chExt cx="21738031" cy="16063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737955" cy="1606296"/>
            </a:xfrm>
            <a:custGeom>
              <a:avLst/>
              <a:gdLst/>
              <a:ahLst/>
              <a:cxnLst/>
              <a:rect r="r" b="b" t="t" l="l"/>
              <a:pathLst>
                <a:path h="1606296" w="21737955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21579205" y="0"/>
                  </a:lnTo>
                  <a:cubicBezTo>
                    <a:pt x="21666836" y="0"/>
                    <a:pt x="21737955" y="71120"/>
                    <a:pt x="21737955" y="158750"/>
                  </a:cubicBezTo>
                  <a:lnTo>
                    <a:pt x="21737955" y="1447546"/>
                  </a:lnTo>
                  <a:cubicBezTo>
                    <a:pt x="21737955" y="1535176"/>
                    <a:pt x="21666836" y="1606296"/>
                    <a:pt x="21579205" y="1606296"/>
                  </a:cubicBezTo>
                  <a:lnTo>
                    <a:pt x="158750" y="1606296"/>
                  </a:lnTo>
                  <a:cubicBezTo>
                    <a:pt x="71120" y="1606296"/>
                    <a:pt x="0" y="1535176"/>
                    <a:pt x="0" y="1447546"/>
                  </a:cubicBezTo>
                  <a:close/>
                </a:path>
              </a:pathLst>
            </a:custGeom>
            <a:solidFill>
              <a:srgbClr val="FCF2B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75750" y="8442874"/>
            <a:ext cx="354359" cy="283521"/>
            <a:chOff x="0" y="0"/>
            <a:chExt cx="472478" cy="378028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71" r="-8" b="-655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913630" y="8271862"/>
            <a:ext cx="16013011" cy="413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Main challenge: inter-class similarity in finger positions leads to misclassification among visually similar signs.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ABCB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63348" y="3602384"/>
            <a:ext cx="8234780" cy="3889825"/>
            <a:chOff x="0" y="0"/>
            <a:chExt cx="12400318" cy="585748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400369" cy="5857494"/>
            </a:xfrm>
            <a:custGeom>
              <a:avLst/>
              <a:gdLst/>
              <a:ahLst/>
              <a:cxnLst/>
              <a:rect r="r" b="b" t="t" l="l"/>
              <a:pathLst>
                <a:path h="5857494" w="12400369">
                  <a:moveTo>
                    <a:pt x="0" y="0"/>
                  </a:moveTo>
                  <a:lnTo>
                    <a:pt x="12400369" y="0"/>
                  </a:lnTo>
                  <a:lnTo>
                    <a:pt x="12400369" y="5857494"/>
                  </a:lnTo>
                  <a:lnTo>
                    <a:pt x="0" y="58574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6" r="0" b="-14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99406" y="7414917"/>
            <a:ext cx="7805890" cy="1204760"/>
            <a:chOff x="0" y="0"/>
            <a:chExt cx="10407853" cy="16063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07777" cy="1606296"/>
            </a:xfrm>
            <a:custGeom>
              <a:avLst/>
              <a:gdLst/>
              <a:ahLst/>
              <a:cxnLst/>
              <a:rect r="r" b="b" t="t" l="l"/>
              <a:pathLst>
                <a:path h="1606296" w="10407777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249027" y="0"/>
                  </a:lnTo>
                  <a:cubicBezTo>
                    <a:pt x="10336657" y="0"/>
                    <a:pt x="10407777" y="71120"/>
                    <a:pt x="10407777" y="158750"/>
                  </a:cubicBezTo>
                  <a:lnTo>
                    <a:pt x="10407777" y="1447546"/>
                  </a:lnTo>
                  <a:cubicBezTo>
                    <a:pt x="10407777" y="1535176"/>
                    <a:pt x="10336657" y="1606296"/>
                    <a:pt x="10249027" y="1606296"/>
                  </a:cubicBezTo>
                  <a:lnTo>
                    <a:pt x="158750" y="1606296"/>
                  </a:lnTo>
                  <a:cubicBezTo>
                    <a:pt x="71120" y="1606296"/>
                    <a:pt x="0" y="1535176"/>
                    <a:pt x="0" y="1447546"/>
                  </a:cubicBezTo>
                  <a:close/>
                </a:path>
              </a:pathLst>
            </a:custGeom>
            <a:solidFill>
              <a:srgbClr val="B6FCB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782918" y="7854553"/>
            <a:ext cx="354359" cy="283521"/>
            <a:chOff x="0" y="0"/>
            <a:chExt cx="472478" cy="37802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71" r="-8" b="-65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92238" y="1319660"/>
            <a:ext cx="10486434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Deployment — Streamlit App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99406" y="2828773"/>
            <a:ext cx="7805890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The trained model was integrated into a lightweight Streamlit interface for demo and usability testing. Typical user flow: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99406" y="4444756"/>
            <a:ext cx="7805890" cy="2651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AutoNum type="arabicPeriod" startAt="1"/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Upload or capture an ASL image</a:t>
            </a:r>
          </a:p>
          <a:p>
            <a:pPr algn="l" marL="530860" indent="-265430" lvl="1">
              <a:lnSpc>
                <a:spcPts val="3511"/>
              </a:lnSpc>
              <a:buAutoNum type="arabicPeriod" startAt="1"/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Run prediction (single image inference)</a:t>
            </a:r>
          </a:p>
          <a:p>
            <a:pPr algn="l" marL="530860" indent="-265430" lvl="1">
              <a:lnSpc>
                <a:spcPts val="3511"/>
              </a:lnSpc>
              <a:buAutoNum type="arabicPeriod" startAt="1"/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Display predicted sign and confidence scores</a:t>
            </a:r>
          </a:p>
          <a:p>
            <a:pPr algn="l" marL="530860" indent="-265430" lvl="1">
              <a:lnSpc>
                <a:spcPts val="3511"/>
              </a:lnSpc>
              <a:buAutoNum type="arabicPeriod" startAt="1"/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Optionally view top-k predictions and probability bar chart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20798" y="7635926"/>
            <a:ext cx="7515377" cy="586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Run command: streamlit run app.py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ABCB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8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068793" y="4468416"/>
            <a:ext cx="10099331" cy="5246370"/>
            <a:chOff x="0" y="0"/>
            <a:chExt cx="1564651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64651" cy="812800"/>
            </a:xfrm>
            <a:custGeom>
              <a:avLst/>
              <a:gdLst/>
              <a:ahLst/>
              <a:cxnLst/>
              <a:rect r="r" b="b" t="t" l="l"/>
              <a:pathLst>
                <a:path h="812800" w="1564651">
                  <a:moveTo>
                    <a:pt x="0" y="0"/>
                  </a:moveTo>
                  <a:lnTo>
                    <a:pt x="1564651" y="0"/>
                  </a:lnTo>
                  <a:lnTo>
                    <a:pt x="1564651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0" t="-14487" r="0" b="-1448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1625946"/>
            <a:ext cx="3931295" cy="861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2C3F42"/>
                </a:solidFill>
                <a:latin typeface="Bitter"/>
                <a:ea typeface="Bitter"/>
                <a:cs typeface="Bitter"/>
                <a:sym typeface="Bitter"/>
              </a:rPr>
              <a:t>Conclusion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021806"/>
            <a:ext cx="1630352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B2E3C"/>
                </a:solidFill>
                <a:latin typeface="Open Sans"/>
                <a:ea typeface="Open Sans"/>
                <a:cs typeface="Open Sans"/>
                <a:sym typeface="Open Sans"/>
              </a:rPr>
              <a:t>This project demonstrates a complete deep learning pipeline: dataset → preprocessing → baseline CNN → transfer learning → evaluation → Streamlit deployment. Key achievements include model comparison, robust preprocessing, and a user-facing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DAHKVAvwYfM</dc:identifier>
  <dcterms:modified xsi:type="dcterms:W3CDTF">2011-08-01T06:04:30Z</dcterms:modified>
  <cp:revision>1</cp:revision>
  <dc:title>Final-Deep-Learning-Project-ASL-Recognition.pptx</dc:title>
</cp:coreProperties>
</file>